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62095" cy="6510528"/>
          </a:xfrm>
          <a:prstGeom prst="rect">
            <a:avLst/>
          </a:prstGeom>
          <a:solidFill>
            <a:srgbClr val="13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82296" cy="6510528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438912"/>
            <a:ext cx="118872" cy="338328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438912"/>
            <a:ext cx="5486400" cy="29260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6CE8D7"/>
                </a:solidFill>
                <a:latin typeface="Aptos"/>
              </a:defRPr>
            </a:pPr>
            <a:r>
              <a:t>CASPAD AI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33271"/>
            <a:ext cx="3310128" cy="310896"/>
          </a:xfrm>
          <a:prstGeom prst="roundRect">
            <a:avLst>
              <a:gd name="adj" fmla="val 10000"/>
            </a:avLst>
          </a:prstGeom>
          <a:solidFill>
            <a:srgbClr val="1F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088136"/>
            <a:ext cx="301752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 &amp; AI ENGINEER  /  TAKE-HOME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7223760" cy="124358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Late Deliveries</a:t>
            </a:r>
            <a:br/>
            <a:r>
              <a:t>&amp; What Customers Say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54096"/>
            <a:ext cx="621792" cy="50292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264408"/>
            <a:ext cx="713232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300" b="1">
                <a:solidFill>
                  <a:srgbClr val="6CE8D7"/>
                </a:solidFill>
                <a:latin typeface="Aptos"/>
              </a:defRPr>
            </a:pPr>
            <a:r>
              <a:t>NITHYASHREE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21024"/>
            <a:ext cx="7178040" cy="3416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Aptos"/>
              </a:defRPr>
            </a:pPr>
            <a:r>
              <a:rPr dirty="0"/>
              <a:t>B.Tech. (Hons.) Information Technology</a:t>
            </a:r>
            <a:br>
              <a:rPr dirty="0"/>
            </a:br>
            <a:r>
              <a:rPr dirty="0"/>
              <a:t>Government College of Engineering, Erode  |  2022–2026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79976"/>
            <a:ext cx="7242048" cy="914400"/>
          </a:xfrm>
          <a:prstGeom prst="roundRect">
            <a:avLst>
              <a:gd name="adj" fmla="val 10000"/>
            </a:avLst>
          </a:prstGeom>
          <a:solidFill>
            <a:srgbClr val="16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4517136"/>
            <a:ext cx="6766560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6CE8D7"/>
                </a:solidFill>
                <a:latin typeface="Aptos"/>
              </a:defRPr>
            </a:pPr>
            <a:r>
              <a:t>THE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773168"/>
            <a:ext cx="6720840" cy="4114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When deliveries are late, what happens to customer satisfaction — and what are customers actually complaining about?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5504688"/>
            <a:ext cx="7223760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40" b="1">
                <a:solidFill>
                  <a:srgbClr val="B8C7D5"/>
                </a:solidFill>
                <a:latin typeface="Aptos"/>
              </a:defRPr>
            </a:pPr>
            <a:r>
              <a:t>ORDERS  →  DELIVERY PERFORMANCE  →  CUSTOMER FEEDBACK  → 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843016"/>
            <a:ext cx="7315200" cy="4297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10" b="0">
                <a:solidFill>
                  <a:srgbClr val="B8C7D5"/>
                </a:solidFill>
                <a:latin typeface="Aptos"/>
              </a:defRPr>
            </a:pPr>
            <a:r>
              <a:t>Olist Brazilian E-Commerce Dataset</a:t>
            </a:r>
            <a:br/>
            <a:r>
              <a:t>Python • Pandas • Jupyter Notebook • Power BI • ChatGPT • Claude • Git/GitHub</a:t>
            </a:r>
          </a:p>
        </p:txBody>
      </p:sp>
      <p:sp>
        <p:nvSpPr>
          <p:cNvPr id="18" name="Oval 17"/>
          <p:cNvSpPr/>
          <p:nvPr/>
        </p:nvSpPr>
        <p:spPr>
          <a:xfrm>
            <a:off x="11292840" y="374904"/>
            <a:ext cx="137160" cy="137160"/>
          </a:xfrm>
          <a:prstGeom prst="ellipse">
            <a:avLst/>
          </a:prstGeom>
          <a:solidFill>
            <a:srgbClr val="00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539728" y="374904"/>
            <a:ext cx="137160" cy="137160"/>
          </a:xfrm>
          <a:prstGeom prst="ellipse">
            <a:avLst/>
          </a:prstGeom>
          <a:solidFill>
            <a:srgbClr val="F57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786616" y="374904"/>
            <a:ext cx="137160" cy="137160"/>
          </a:xfrm>
          <a:prstGeom prst="ellipse">
            <a:avLst/>
          </a:prstGeom>
          <a:solidFill>
            <a:srgbClr val="6C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50224" y="758952"/>
            <a:ext cx="3063240" cy="2286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00" b="1">
                <a:solidFill>
                  <a:srgbClr val="6CE8D7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1060704"/>
            <a:ext cx="3017520" cy="3657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 data-to-decision 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22792" y="1719072"/>
            <a:ext cx="3182112" cy="941832"/>
          </a:xfrm>
          <a:prstGeom prst="roundRect">
            <a:avLst>
              <a:gd name="adj" fmla="val 10000"/>
            </a:avLst>
          </a:prstGeom>
          <a:solidFill>
            <a:srgbClr val="1B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22792" y="1719072"/>
            <a:ext cx="64008" cy="941832"/>
          </a:xfrm>
          <a:prstGeom prst="rect">
            <a:avLst/>
          </a:prstGeom>
          <a:solidFill>
            <a:srgbClr val="00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0536" y="1837943"/>
            <a:ext cx="26974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96,478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340864"/>
            <a:ext cx="2724912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1">
                <a:solidFill>
                  <a:srgbClr val="00A6A0"/>
                </a:solidFill>
                <a:latin typeface="Aptos"/>
              </a:defRPr>
            </a:pPr>
            <a:r>
              <a:t>DELIVERED 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22792" y="2880360"/>
            <a:ext cx="3182112" cy="941832"/>
          </a:xfrm>
          <a:prstGeom prst="roundRect">
            <a:avLst>
              <a:gd name="adj" fmla="val 10000"/>
            </a:avLst>
          </a:prstGeom>
          <a:solidFill>
            <a:srgbClr val="1B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622792" y="2880360"/>
            <a:ext cx="64008" cy="941832"/>
          </a:xfrm>
          <a:prstGeom prst="rect">
            <a:avLst/>
          </a:prstGeom>
          <a:solidFill>
            <a:srgbClr val="F57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0536" y="2999232"/>
            <a:ext cx="26974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6.77%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502152"/>
            <a:ext cx="2724912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1">
                <a:solidFill>
                  <a:srgbClr val="F57E65"/>
                </a:solidFill>
                <a:latin typeface="Aptos"/>
              </a:defRPr>
            </a:pPr>
            <a:r>
              <a:t>LATE-DELIVERY SHARE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22792" y="4041648"/>
            <a:ext cx="3182112" cy="941832"/>
          </a:xfrm>
          <a:prstGeom prst="roundRect">
            <a:avLst>
              <a:gd name="adj" fmla="val 10000"/>
            </a:avLst>
          </a:prstGeom>
          <a:solidFill>
            <a:srgbClr val="1B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22792" y="4041648"/>
            <a:ext cx="64008" cy="941832"/>
          </a:xfrm>
          <a:prstGeom prst="rect">
            <a:avLst/>
          </a:prstGeom>
          <a:solidFill>
            <a:srgbClr val="6CE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60536" y="4160520"/>
            <a:ext cx="26974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200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663440"/>
            <a:ext cx="2724912" cy="1828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1">
                <a:solidFill>
                  <a:srgbClr val="6CE8D7"/>
                </a:solidFill>
                <a:latin typeface="Aptos"/>
              </a:defRPr>
            </a:pPr>
            <a:r>
              <a:t>REVIEWS ANALYSED WITH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5413248"/>
            <a:ext cx="2926080" cy="2103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00" b="1">
                <a:solidFill>
                  <a:srgbClr val="6CE8D7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50224" y="5687568"/>
            <a:ext cx="2980944" cy="4297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 Engineering  •  Business Analytics  •  AI-assisted review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9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912" y="6574536"/>
            <a:ext cx="914400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FFFFFF"/>
                </a:solidFill>
                <a:latin typeface="Aptos"/>
              </a:defRPr>
            </a:pPr>
            <a:r>
              <a:t>Caspad AI Works  |  Data &amp; AI Engineer Selection Process  |  October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0232" y="6574536"/>
            <a:ext cx="731520" cy="16459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r">
              <a:defRPr sz="850" b="1">
                <a:solidFill>
                  <a:srgbClr val="6CE8D7"/>
                </a:solidFill>
                <a:latin typeface="Aptos"/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51052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  <a:latin typeface="Aptos"/>
              </a:defRPr>
            </a:pPr>
            <a:r>
              <a:t>02 /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900" b="1">
                <a:solidFill>
                  <a:srgbClr val="111F36"/>
                </a:solidFill>
                <a:latin typeface="Aptos"/>
              </a:defRPr>
            </a:pPr>
            <a:r>
              <a:t>From Raw Data to Operational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657487"/>
                </a:solidFill>
                <a:latin typeface="Aptos"/>
              </a:defRPr>
            </a:pPr>
            <a:r>
              <a:t>A three-stage workflow combining data engineering, business analytics and AI-assisted review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56248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Caspad AI Works  |  Data &amp; AI Engineer Selection Process  | 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5EDBD0"/>
                </a:solidFill>
                <a:latin typeface="Aptos"/>
              </a:defRPr>
            </a:pPr>
            <a:r>
              <a:t>2 /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719072"/>
            <a:ext cx="3438144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719072"/>
            <a:ext cx="3438144" cy="8229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1920240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01  ·  DATA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267712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009999"/>
                </a:solidFill>
                <a:latin typeface="Aptos"/>
              </a:defRPr>
            </a:pPr>
            <a:r>
              <a:t>Python + 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724912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72491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Loaded orders, items and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246120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246120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Aggregated item and review records to order 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767328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767328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Filtered to 96,478 delivered orders; calculated days_late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288536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009999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288536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Validated IDs, dates and order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496519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1">
                <a:solidFill>
                  <a:srgbClr val="65748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" y="51755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111F36"/>
                </a:solidFill>
                <a:latin typeface="Aptos"/>
              </a:defRPr>
            </a:pPr>
            <a:r>
              <a:t>olist_delivered_orders.csv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78808" y="1719072"/>
            <a:ext cx="3438144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78808" y="1719072"/>
            <a:ext cx="3438144" cy="82296"/>
          </a:xfrm>
          <a:prstGeom prst="rect">
            <a:avLst/>
          </a:prstGeom>
          <a:solidFill>
            <a:srgbClr val="E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79976" y="1920240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02  ·  BUSINESS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9976" y="2267712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EF705B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2724912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EF705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72491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Calculated late-order count and share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3246120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EF705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246120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Analyzed monthly late-delivery share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8" y="3767328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EF705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767328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Compared review scores: late vs on-time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4288536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EF705B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288536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Checked scores for orders &gt;7 days 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9976" y="496519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1">
                <a:solidFill>
                  <a:srgbClr val="65748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9976" y="51755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111F36"/>
                </a:solidFill>
                <a:latin typeface="Aptos"/>
              </a:defRPr>
            </a:pPr>
            <a:r>
              <a:t>Analysis.pbix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27264" y="1719072"/>
            <a:ext cx="3438144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827264" y="1719072"/>
            <a:ext cx="3438144" cy="82296"/>
          </a:xfrm>
          <a:prstGeom prst="rect">
            <a:avLst/>
          </a:prstGeom>
          <a:solidFill>
            <a:srgbClr val="537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28432" y="1920240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111F36"/>
                </a:solidFill>
                <a:latin typeface="Aptos"/>
              </a:defRPr>
            </a:pPr>
            <a:r>
              <a:t>03  ·  CUSTOMER VOICE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432" y="2267712"/>
            <a:ext cx="29260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537EC9"/>
                </a:solidFill>
                <a:latin typeface="Aptos"/>
              </a:defRPr>
            </a:pPr>
            <a:r>
              <a:t>ChatGPT + manual 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55864" y="2724912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537EC9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6" y="2724912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Sampled 200 reviews with written comments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55864" y="3246120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537EC9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6" y="3246120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Classified into five fixed themes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55864" y="3767328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537EC9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6" y="3767328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Generated concise English summaries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55864" y="4288536"/>
            <a:ext cx="16459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537EC9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6176" y="4288536"/>
            <a:ext cx="27432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Manually validated 30 reviews: 30/30 correct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8432" y="496519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1">
                <a:solidFill>
                  <a:srgbClr val="657487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8432" y="51755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111F36"/>
                </a:solidFill>
                <a:latin typeface="Aptos"/>
              </a:defRPr>
            </a:pPr>
            <a:r>
              <a:t>part_c_ai_results.csv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0352" y="5833872"/>
            <a:ext cx="10735056" cy="429768"/>
          </a:xfrm>
          <a:prstGeom prst="roundRect">
            <a:avLst>
              <a:gd name="adj" fmla="val 12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5934456"/>
            <a:ext cx="10332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111F36"/>
                </a:solidFill>
                <a:latin typeface="Aptos"/>
              </a:defRPr>
            </a:pPr>
            <a:r>
              <a:t>WORKFLOW PRINCIPLE     Aggregate first   →   Validate   →   Analyze   →   Interpret</a:t>
            </a:r>
          </a:p>
        </p:txBody>
      </p:sp>
      <p:sp>
        <p:nvSpPr>
          <p:cNvPr id="53" name="Chevron 52"/>
          <p:cNvSpPr/>
          <p:nvPr/>
        </p:nvSpPr>
        <p:spPr>
          <a:xfrm>
            <a:off x="3986784" y="3273552"/>
            <a:ext cx="320040" cy="502920"/>
          </a:xfrm>
          <a:prstGeom prst="chevron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hevron 53"/>
          <p:cNvSpPr/>
          <p:nvPr/>
        </p:nvSpPr>
        <p:spPr>
          <a:xfrm>
            <a:off x="7635240" y="3273552"/>
            <a:ext cx="320040" cy="502920"/>
          </a:xfrm>
          <a:prstGeom prst="chevron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51052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  <a:latin typeface="Aptos"/>
              </a:defRPr>
            </a:pPr>
            <a:r>
              <a:t>03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900" b="1">
                <a:solidFill>
                  <a:srgbClr val="111F36"/>
                </a:solidFill>
                <a:latin typeface="Aptos"/>
              </a:defRPr>
            </a:pPr>
            <a:r>
              <a:t>Late Deliveries Have a Clear Customer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657487"/>
                </a:solidFill>
                <a:latin typeface="Aptos"/>
              </a:defRPr>
            </a:pPr>
            <a:r>
              <a:t>Delivery performance and customer feedback show a strong association — not proof of causation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56248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Caspad AI Works  |  Data &amp; AI Engineer Selection Process  | 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5EDBD0"/>
                </a:solidFill>
                <a:latin typeface="Aptos"/>
              </a:defRPr>
            </a:pPr>
            <a:r>
              <a:t>3 /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700784"/>
            <a:ext cx="214884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700784"/>
            <a:ext cx="64008" cy="1298448"/>
          </a:xfrm>
          <a:prstGeom prst="rect">
            <a:avLst/>
          </a:prstGeom>
          <a:solidFill>
            <a:srgbClr val="E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1865376"/>
            <a:ext cx="1764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657487"/>
                </a:solidFill>
                <a:latin typeface="Aptos"/>
              </a:defRPr>
            </a:pPr>
            <a:r>
              <a:t>LATE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112264"/>
            <a:ext cx="176479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t>6,534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700784"/>
            <a:ext cx="214884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16352" y="1700784"/>
            <a:ext cx="64008" cy="12984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0" y="1865376"/>
            <a:ext cx="1764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657487"/>
                </a:solidFill>
                <a:latin typeface="Aptos"/>
              </a:defRPr>
            </a:pPr>
            <a:r>
              <a:t>LATE-DELIVERY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112264"/>
            <a:ext cx="176479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t>6.77%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2" y="1700784"/>
            <a:ext cx="214884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02352" y="1700784"/>
            <a:ext cx="64008" cy="1298448"/>
          </a:xfrm>
          <a:prstGeom prst="rect">
            <a:avLst/>
          </a:prstGeom>
          <a:solidFill>
            <a:srgbClr val="E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0" y="1865376"/>
            <a:ext cx="17647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657487"/>
                </a:solidFill>
                <a:latin typeface="Aptos"/>
              </a:defRPr>
            </a:pPr>
            <a:r>
              <a:t>SCORE WHEN &gt;7 DAYS 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112264"/>
            <a:ext cx="1764792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>
                <a:solidFill>
                  <a:srgbClr val="111F36"/>
                </a:solidFill>
                <a:latin typeface="Aptos"/>
              </a:defRPr>
            </a:pPr>
            <a:r>
              <a:t>1.70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633472"/>
            <a:ext cx="1764792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657487"/>
                </a:solidFill>
                <a:latin typeface="Aptos"/>
              </a:defRPr>
            </a:pPr>
            <a:r>
              <a:t>Average review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200400"/>
            <a:ext cx="562356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401568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AVERAGE REVIEW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67912"/>
            <a:ext cx="11155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1E2B3F"/>
                </a:solidFill>
                <a:latin typeface="Aptos"/>
              </a:defRPr>
            </a:pPr>
            <a:r>
              <a:t>On-time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47088" y="3895344"/>
            <a:ext cx="3200400" cy="201168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847088" y="3895344"/>
            <a:ext cx="2745943" cy="201168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93792" y="3849624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300" b="1">
                <a:solidFill>
                  <a:srgbClr val="111F36"/>
                </a:solidFill>
                <a:latin typeface="Aptos"/>
              </a:defRPr>
            </a:pPr>
            <a:r>
              <a:t>4.29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599432"/>
            <a:ext cx="11155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1E2B3F"/>
                </a:solidFill>
                <a:latin typeface="Aptos"/>
              </a:defRPr>
            </a:pPr>
            <a:r>
              <a:t>Late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47088" y="4626864"/>
            <a:ext cx="3200400" cy="201168"/>
          </a:xfrm>
          <a:prstGeom prst="roundRect">
            <a:avLst>
              <a:gd name="adj" fmla="val 12000"/>
            </a:avLst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847088" y="4626864"/>
            <a:ext cx="1452981" cy="201168"/>
          </a:xfrm>
          <a:prstGeom prst="roundRect">
            <a:avLst>
              <a:gd name="adj" fmla="val 12000"/>
            </a:avLst>
          </a:prstGeom>
          <a:solidFill>
            <a:srgbClr val="E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93792" y="4581144"/>
            <a:ext cx="6583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1300" b="1">
                <a:solidFill>
                  <a:srgbClr val="111F36"/>
                </a:solidFill>
                <a:latin typeface="Aptos"/>
              </a:defRPr>
            </a:pPr>
            <a:r>
              <a:t>2.27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056632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657487"/>
                </a:solidFill>
                <a:latin typeface="Aptos"/>
              </a:defRPr>
            </a:pPr>
            <a:r>
              <a:t>Difference: −2.02 points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2512" y="3200400"/>
            <a:ext cx="5276088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3401568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CUSTOMER VOICE  ·  200-REVIEW AI SAMPLE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85876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1E2B3F"/>
                </a:solidFill>
                <a:latin typeface="Aptos"/>
              </a:defRPr>
            </a:pPr>
            <a:r>
              <a:t>21 late reviews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133087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EF705B"/>
                </a:solidFill>
                <a:latin typeface="Aptos"/>
              </a:defRPr>
            </a:pPr>
            <a:r>
              <a:t>85.7%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562856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0">
                <a:solidFill>
                  <a:srgbClr val="657487"/>
                </a:solidFill>
                <a:latin typeface="Aptos"/>
              </a:defRPr>
            </a:pPr>
            <a:r>
              <a:t>classified as late / not received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3813048"/>
            <a:ext cx="18288" cy="1234440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53728" y="385876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1E2B3F"/>
                </a:solidFill>
                <a:latin typeface="Aptos"/>
              </a:defRPr>
            </a:pPr>
            <a:r>
              <a:t>179 on-time reviews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4133087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009999"/>
                </a:solidFill>
                <a:latin typeface="Aptos"/>
              </a:defRPr>
            </a:pPr>
            <a:r>
              <a:t>63.1%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728" y="4562856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0">
                <a:solidFill>
                  <a:srgbClr val="657487"/>
                </a:solidFill>
                <a:latin typeface="Aptos"/>
              </a:defRPr>
            </a:pPr>
            <a:r>
              <a:t>classified as good experience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" y="5605272"/>
            <a:ext cx="11128248" cy="630936"/>
          </a:xfrm>
          <a:prstGeom prst="roundRect">
            <a:avLst>
              <a:gd name="adj" fmla="val 12000"/>
            </a:avLst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5715000"/>
            <a:ext cx="10698480" cy="393192"/>
          </a:xfrm>
          <a:prstGeom prst="rect">
            <a:avLst/>
          </a:prstGeom>
          <a:noFill/>
        </p:spPr>
        <p:txBody>
          <a:bodyPr wrap="square" lIns="101600" tIns="0" rIns="101600" bIns="0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Review scores are substantially lower for late orders and lower still for orders more than seven days late.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" y="3127248"/>
            <a:ext cx="11292840" cy="2350008"/>
          </a:xfrm>
          <a:prstGeom prst="rect">
            <a:avLst/>
          </a:prstGeom>
          <a:solidFill>
            <a:srgbClr val="F7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3182112"/>
            <a:ext cx="1097280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  <a:latin typeface="Aptos"/>
              </a:defRPr>
            </a:pPr>
            <a:r>
              <a:t>AVERAGE REVIEW SCORE  ·  THE CUSTOMER IMPACT OF DELAY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3566160"/>
            <a:ext cx="297180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59" y="3685032"/>
            <a:ext cx="2651760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900" b="1">
                <a:solidFill>
                  <a:srgbClr val="657487"/>
                </a:solidFill>
                <a:latin typeface="Aptos"/>
              </a:defRPr>
            </a:pPr>
            <a:r>
              <a:t>ON-TIME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59" y="3931920"/>
            <a:ext cx="265176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3100" b="1">
                <a:solidFill>
                  <a:srgbClr val="009999"/>
                </a:solidFill>
                <a:latin typeface="Aptos"/>
              </a:defRPr>
            </a:pPr>
            <a:r>
              <a:t>4.29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98848" y="3566160"/>
            <a:ext cx="297180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3440" y="3685032"/>
            <a:ext cx="2651760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900" b="1">
                <a:solidFill>
                  <a:srgbClr val="657487"/>
                </a:solidFill>
                <a:latin typeface="Aptos"/>
              </a:defRPr>
            </a:pPr>
            <a:r>
              <a:t>LATE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3931920"/>
            <a:ext cx="265176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3100" b="1">
                <a:solidFill>
                  <a:srgbClr val="EF705B"/>
                </a:solidFill>
                <a:latin typeface="Aptos"/>
              </a:defRPr>
            </a:pPr>
            <a:r>
              <a:t>2.27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21040" y="3566160"/>
            <a:ext cx="2971800" cy="10789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85632" y="3685032"/>
            <a:ext cx="2651760" cy="20116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900" b="1">
                <a:solidFill>
                  <a:srgbClr val="657487"/>
                </a:solidFill>
                <a:latin typeface="Aptos"/>
              </a:defRPr>
            </a:pPr>
            <a:r>
              <a:t>&gt;7 DAYS LATE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3931920"/>
            <a:ext cx="265176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defRPr sz="3100" b="1">
                <a:solidFill>
                  <a:srgbClr val="111F36"/>
                </a:solidFill>
                <a:latin typeface="Aptos"/>
              </a:defRPr>
            </a:pPr>
            <a:r>
              <a:t>1.70</a:t>
            </a:r>
          </a:p>
        </p:txBody>
      </p:sp>
      <p:sp>
        <p:nvSpPr>
          <p:cNvPr id="55" name="Chevron 54"/>
          <p:cNvSpPr/>
          <p:nvPr/>
        </p:nvSpPr>
        <p:spPr>
          <a:xfrm>
            <a:off x="3840480" y="3886200"/>
            <a:ext cx="384048" cy="438912"/>
          </a:xfrm>
          <a:prstGeom prst="chevron">
            <a:avLst/>
          </a:prstGeom>
          <a:solidFill>
            <a:srgbClr val="E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Chevron 55"/>
          <p:cNvSpPr/>
          <p:nvPr/>
        </p:nvSpPr>
        <p:spPr>
          <a:xfrm>
            <a:off x="7662672" y="3886200"/>
            <a:ext cx="384048" cy="438912"/>
          </a:xfrm>
          <a:prstGeom prst="chevron">
            <a:avLst/>
          </a:prstGeom>
          <a:solidFill>
            <a:srgbClr val="E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3232" y="4727448"/>
            <a:ext cx="4663440" cy="2560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−2.02 points: on-time vs late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4727448"/>
            <a:ext cx="557784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r">
              <a:defRPr sz="1000" b="1">
                <a:solidFill>
                  <a:srgbClr val="EF705B"/>
                </a:solidFill>
                <a:latin typeface="Aptos"/>
              </a:defRPr>
            </a:pPr>
            <a:r>
              <a:t>21 sampled late reviews: 85.7% classified as late_or_not_received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5038344"/>
            <a:ext cx="10698480" cy="2286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>
              <a:defRPr sz="900" b="0">
                <a:solidFill>
                  <a:srgbClr val="657487"/>
                </a:solidFill>
                <a:latin typeface="Aptos"/>
              </a:defRPr>
            </a:pPr>
            <a:r>
              <a:t>On-time sample: 179 reviews; 63.1% classified as good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51052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  <a:latin typeface="Aptos"/>
              </a:defRPr>
            </a:pPr>
            <a:r>
              <a:t>04 /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900" b="1">
                <a:solidFill>
                  <a:srgbClr val="111F36"/>
                </a:solidFill>
                <a:latin typeface="Aptos"/>
              </a:defRPr>
            </a:pPr>
            <a:r>
              <a:t>Three Actions for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657487"/>
                </a:solidFill>
                <a:latin typeface="Aptos"/>
              </a:defRPr>
            </a:pPr>
            <a:r>
              <a:t>Turn delivery signals into targeted intervention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56248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Caspad AI Works  |  Data &amp; AI Engineer Selection Process  | 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5EDBD0"/>
                </a:solidFill>
                <a:latin typeface="Aptos"/>
              </a:defRPr>
            </a:pPr>
            <a:r>
              <a:t>4 /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746504"/>
            <a:ext cx="3438144" cy="3621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746504"/>
            <a:ext cx="3438144" cy="8229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1938528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01  ·  PRIORITIZE HIGH-LATE-SHARE SELLERS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2578608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300" b="1">
                <a:solidFill>
                  <a:srgbClr val="009999"/>
                </a:solidFill>
                <a:latin typeface="Aptos"/>
              </a:defRPr>
            </a:pPr>
            <a:r>
              <a:t>429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008376"/>
            <a:ext cx="137160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0">
                <a:solidFill>
                  <a:srgbClr val="657487"/>
                </a:solidFill>
                <a:latin typeface="Aptos"/>
              </a:defRPr>
            </a:pPr>
            <a:r>
              <a:t>Sellers with ≥50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578608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  <a:latin typeface="Aptos"/>
              </a:defRPr>
            </a:pPr>
            <a:r>
              <a:t>30.1%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008376"/>
            <a:ext cx="138988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0">
                <a:solidFill>
                  <a:srgbClr val="657487"/>
                </a:solidFill>
                <a:latin typeface="Aptos"/>
              </a:defRPr>
            </a:pPr>
            <a:r>
              <a:t>Highest observed seller late-delivery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19" y="3575304"/>
            <a:ext cx="3017520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3749039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1">
                <a:solidFill>
                  <a:srgbClr val="009999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023360"/>
            <a:ext cx="29900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Review sellers with high observed late-share and investigate root causes.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78808" y="1746504"/>
            <a:ext cx="3438144" cy="3621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78808" y="1746504"/>
            <a:ext cx="3438144" cy="82296"/>
          </a:xfrm>
          <a:prstGeom prst="rect">
            <a:avLst/>
          </a:prstGeom>
          <a:solidFill>
            <a:srgbClr val="E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79976" y="1938528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02  ·  INTERVENE BEFORE THE PROMISE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2578608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300" b="1">
                <a:solidFill>
                  <a:srgbClr val="EF705B"/>
                </a:solidFill>
                <a:latin typeface="Aptos"/>
              </a:defRPr>
            </a:pPr>
            <a:r>
              <a:t>2.27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3008376"/>
            <a:ext cx="137160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0">
                <a:solidFill>
                  <a:srgbClr val="657487"/>
                </a:solidFill>
                <a:latin typeface="Aptos"/>
              </a:defRPr>
            </a:pPr>
            <a:r>
              <a:t>Late-order average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6" y="2578608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  <a:latin typeface="Aptos"/>
              </a:defRPr>
            </a:pPr>
            <a:r>
              <a:t>4.29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456" y="3008376"/>
            <a:ext cx="138988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0">
                <a:solidFill>
                  <a:srgbClr val="657487"/>
                </a:solidFill>
                <a:latin typeface="Aptos"/>
              </a:defRPr>
            </a:pPr>
            <a:r>
              <a:t>On-time average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3575304"/>
            <a:ext cx="3017520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79976" y="3749039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1">
                <a:solidFill>
                  <a:srgbClr val="EF705B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4023360"/>
            <a:ext cx="29900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Identify orders at risk of becoming late; trigger earlier logistics follow-up or proactive customer communication.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27264" y="1746504"/>
            <a:ext cx="3438144" cy="36210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27264" y="1746504"/>
            <a:ext cx="3438144" cy="82296"/>
          </a:xfrm>
          <a:prstGeom prst="rect">
            <a:avLst/>
          </a:prstGeom>
          <a:solidFill>
            <a:srgbClr val="537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28432" y="1938528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111F36"/>
                </a:solidFill>
                <a:latin typeface="Aptos"/>
              </a:defRPr>
            </a:pPr>
            <a:r>
              <a:t>03  ·  INVESTIGATE SEVERE DELAYS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2" y="2578608"/>
            <a:ext cx="135331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300" b="1">
                <a:solidFill>
                  <a:srgbClr val="537EC9"/>
                </a:solidFill>
                <a:latin typeface="Aptos"/>
              </a:defRPr>
            </a:pPr>
            <a:r>
              <a:t>1.70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2" y="3008376"/>
            <a:ext cx="137160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0">
                <a:solidFill>
                  <a:srgbClr val="657487"/>
                </a:solidFill>
                <a:latin typeface="Aptos"/>
              </a:defRPr>
            </a:pPr>
            <a:r>
              <a:t>Score when &gt;7 days late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2578608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  <a:latin typeface="Aptos"/>
              </a:defRPr>
            </a:pPr>
            <a:r>
              <a:t>85.7%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2" y="3008376"/>
            <a:ext cx="138988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Sampled late reviews: late_or_not_received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28432" y="3575304"/>
            <a:ext cx="3017520" cy="18288"/>
          </a:xfrm>
          <a:prstGeom prst="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28432" y="3749039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1">
                <a:solidFill>
                  <a:srgbClr val="537EC9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2" y="4023360"/>
            <a:ext cx="2990088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Investigate severe delays by seller, location, product and logistics factors.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5504688"/>
            <a:ext cx="11128248" cy="356616"/>
          </a:xfrm>
          <a:prstGeom prst="roundRect">
            <a:avLst>
              <a:gd name="adj" fmla="val 12000"/>
            </a:avLst>
          </a:prstGeom>
          <a:solidFill>
            <a:srgbClr val="E8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2376" y="5577840"/>
            <a:ext cx="10744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100" b="1">
                <a:solidFill>
                  <a:srgbClr val="111F36"/>
                </a:solidFill>
                <a:latin typeface="Aptos"/>
              </a:defRPr>
            </a:pPr>
            <a:r>
              <a:t>OPERATIONAL PRIORITY     Prioritize  →  Intervene  →  Investigate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" y="5971032"/>
            <a:ext cx="109728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800" b="0">
                <a:solidFill>
                  <a:srgbClr val="657487"/>
                </a:solidFill>
                <a:latin typeface="Aptos"/>
              </a:defRPr>
            </a:pPr>
            <a:r>
              <a:t>Context: Findings are observational; more operational data is needed to establish root causes. Seller analysis uses unique order_id + seller_id pairs.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51052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  <a:latin typeface="Aptos"/>
              </a:defRPr>
            </a:pPr>
            <a:r>
              <a:t>05 /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1556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900" b="1">
                <a:solidFill>
                  <a:srgbClr val="111F36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657487"/>
                </a:solidFill>
                <a:latin typeface="Aptos"/>
              </a:defRPr>
            </a:pPr>
            <a:r>
              <a:t>Reliable data, validated analysis and carefully checked AI outputs form a decision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6556248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Caspad AI Works  |  Data &amp; AI Engineer Selection Process  | 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556248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900" b="1">
                <a:solidFill>
                  <a:srgbClr val="5EDBD0"/>
                </a:solidFill>
                <a:latin typeface="Aptos"/>
              </a:defRPr>
            </a:pPr>
            <a:r>
              <a:t>5 /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755648"/>
            <a:ext cx="546811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0352" y="1755648"/>
            <a:ext cx="64008" cy="162763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1892807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892807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657487"/>
                </a:solidFill>
                <a:latin typeface="Aptos"/>
              </a:defRPr>
            </a:pPr>
            <a:r>
              <a:t>DATA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194560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11F36"/>
                </a:solidFill>
                <a:latin typeface="Aptos"/>
              </a:defRPr>
            </a:pPr>
            <a:r>
              <a:t>Order-level data needs careful aggregation.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2551176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0">
                <a:solidFill>
                  <a:srgbClr val="1E2B3F"/>
                </a:solidFill>
                <a:latin typeface="Aptos"/>
              </a:defRPr>
            </a:pPr>
            <a:r>
              <a:t>Joining multiple item and review rows directly can multiply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3026663"/>
            <a:ext cx="49834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  <a:latin typeface="Aptos"/>
              </a:defRPr>
            </a:pPr>
            <a:r>
              <a:t>96,478 delivered orders → one row per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1755648"/>
            <a:ext cx="546811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53912" y="1755648"/>
            <a:ext cx="64008" cy="1627632"/>
          </a:xfrm>
          <a:prstGeom prst="rect">
            <a:avLst/>
          </a:prstGeom>
          <a:solidFill>
            <a:srgbClr val="EF7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892807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EF70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1892807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657487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94560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11F36"/>
                </a:solidFill>
                <a:latin typeface="Aptos"/>
              </a:defRPr>
            </a:pPr>
            <a:r>
              <a:t>Validation is part of the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51176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0">
                <a:solidFill>
                  <a:srgbClr val="1E2B3F"/>
                </a:solidFill>
                <a:latin typeface="Aptos"/>
              </a:defRPr>
            </a:pPr>
            <a:r>
              <a:t>Checked order ID uniqueness, delivery vs purchase dates, and order value vs raw item prices.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26663"/>
            <a:ext cx="49834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  <a:latin typeface="Aptos"/>
              </a:defRPr>
            </a:pPr>
            <a:r>
              <a:t>0 mismatches in the required data-quality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3685032"/>
            <a:ext cx="546811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0352" y="3685032"/>
            <a:ext cx="64008" cy="1627632"/>
          </a:xfrm>
          <a:prstGeom prst="rect">
            <a:avLst/>
          </a:prstGeom>
          <a:solidFill>
            <a:srgbClr val="537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19" y="3822192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537EC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822192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657487"/>
                </a:solidFill>
                <a:latin typeface="Aptos"/>
              </a:defRPr>
            </a:pPr>
            <a:r>
              <a:t>AI WITH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4123944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11F36"/>
                </a:solidFill>
                <a:latin typeface="Aptos"/>
              </a:defRPr>
            </a:pPr>
            <a:r>
              <a:t>AI output needs measurable checking.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19" y="448056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0">
                <a:solidFill>
                  <a:srgbClr val="1E2B3F"/>
                </a:solidFill>
                <a:latin typeface="Aptos"/>
              </a:defRPr>
            </a:pPr>
            <a:r>
              <a:t>200 reviews classified with a fixed five-theme prompt; 30 manually validated.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" y="4956048"/>
            <a:ext cx="49834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1E2B3F"/>
                </a:solidFill>
                <a:latin typeface="Aptos"/>
              </a:defRPr>
            </a:pPr>
            <a:r>
              <a:t>30/30 correct in manually checked sample of 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3912" y="3685032"/>
            <a:ext cx="5468112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53912" y="3685032"/>
            <a:ext cx="64008" cy="162763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3822192"/>
            <a:ext cx="40233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3822192"/>
            <a:ext cx="4480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1">
                <a:solidFill>
                  <a:srgbClr val="657487"/>
                </a:solidFill>
                <a:latin typeface="Aptos"/>
              </a:defRPr>
            </a:pPr>
            <a:r>
              <a:t>BUSINESS THINKING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23944"/>
            <a:ext cx="49834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11F36"/>
                </a:solidFill>
                <a:latin typeface="Aptos"/>
              </a:defRPr>
            </a:pPr>
            <a:r>
              <a:t>Analysis ends in decisions.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48056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0">
                <a:solidFill>
                  <a:srgbClr val="1E2B3F"/>
                </a:solidFill>
                <a:latin typeface="Aptos"/>
              </a:defRPr>
            </a:pPr>
            <a:r>
              <a:t>Connect delivery performance and customer feedback to operational priorities.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956048"/>
            <a:ext cx="49834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  <a:latin typeface="Aptos"/>
              </a:defRPr>
            </a:pPr>
            <a:r>
              <a:t>Raw data → metrics → feedback → action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" y="5532120"/>
            <a:ext cx="11128248" cy="530352"/>
          </a:xfrm>
          <a:prstGeom prst="roundRect">
            <a:avLst>
              <a:gd name="adj" fmla="val 12000"/>
            </a:avLst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5641848"/>
            <a:ext cx="10680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BUILD RELIABLE DATA  →  VALIDATE IT  →  TURN ANALYTICS &amp; AI INTO DECISIONS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6163056"/>
            <a:ext cx="6492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900" b="0">
                <a:solidFill>
                  <a:srgbClr val="657487"/>
                </a:solidFill>
                <a:latin typeface="Aptos"/>
              </a:defRPr>
            </a:pPr>
            <a:r>
              <a:t>Python • Pandas • Power BI • ChatGPT • Git/GitHub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6163056"/>
            <a:ext cx="45994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009999"/>
                </a:solidFill>
                <a:latin typeface="Aptos"/>
              </a:defRPr>
            </a:pPr>
            <a:r>
              <a:t>github.com/nithyashree3035/caspad-data-ai-takehome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836</Words>
  <Application>Microsoft Office PowerPoint</Application>
  <PresentationFormat>Widescreen</PresentationFormat>
  <Paragraphs>155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Nithyashree Thangamani</dc:creator>
  <cp:keywords/>
  <dc:description>generated using python-pptx</dc:description>
  <cp:lastModifiedBy>Nithyashree Thangamani</cp:lastModifiedBy>
  <cp:revision>2</cp:revision>
  <dcterms:created xsi:type="dcterms:W3CDTF">2013-01-27T09:14:16Z</dcterms:created>
  <dcterms:modified xsi:type="dcterms:W3CDTF">2026-10-07T19:31:49Z</dcterms:modified>
  <cp:category/>
</cp:coreProperties>
</file>